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8" r:id="rId2"/>
    <p:sldId id="290" r:id="rId3"/>
    <p:sldId id="292" r:id="rId4"/>
    <p:sldId id="29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Goes </a:t>
            </a:r>
            <a:br>
              <a:rPr lang="en-US"/>
            </a:br>
            <a:r>
              <a:rPr lang="en-US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914400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Goes 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914400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087150"/>
            <a:ext cx="914400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916622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685527-7A8C-3647-9D96-6D076FA7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5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431224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Example of the Presentation 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4C79AA-0B96-2A43-86A1-A71A1D4C8E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7101AB8-54F7-4A4E-9611-F4F2ECFBD1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DD4F96-5BFE-3049-B4E0-9CDD4F5C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9CB936-90E7-D144-B9DC-7CF3F98E2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7738" y="1599"/>
            <a:ext cx="2687038" cy="1276343"/>
          </a:xfrm>
          <a:prstGeom prst="rect">
            <a:avLst/>
          </a:prstGeom>
        </p:spPr>
      </p:pic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01688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561760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Example of the Presentation </a:t>
            </a:r>
            <a:br>
              <a:rPr lang="en-US"/>
            </a:br>
            <a:r>
              <a:rPr lang="en-US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3A797-13D4-A243-B1AE-4498B36D47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4DA5E7-4B71-0543-8E46-EC2A81EAE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Month XX, 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BCADCB-4DBB-9C43-A696-780C0577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F5E00-2329-6246-A2BB-7BCD46F83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7738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4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82499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7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8FB54BE8-0526-614C-A06E-8C6258999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48819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17923A-4119-CF48-9F2D-05B0A69EBA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24488-0ADE-1843-91C1-1CA371373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661" y="2215171"/>
            <a:ext cx="4368798" cy="646331"/>
          </a:xfrm>
          <a:solidFill>
            <a:schemeClr val="accent1"/>
          </a:solidFill>
        </p:spPr>
        <p:txBody>
          <a:bodyPr wrap="square" lIns="91440" tIns="91440" bIns="0">
            <a:spAutoFit/>
          </a:bodyPr>
          <a:lstStyle/>
          <a:p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6993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070F21D-F194-034E-812B-69D1C6CD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A13FBC-A4AA-9B4F-8E9B-12CD6600150E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1D3A-9762-7F4D-AB5C-A3F0114B67B2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6" name="Picture 15" descr="The University of Iowa">
            <a:extLst>
              <a:ext uri="{FF2B5EF4-FFF2-40B4-BE49-F238E27FC236}">
                <a16:creationId xmlns:a16="http://schemas.microsoft.com/office/drawing/2014/main" id="{7148CCDA-64E4-6A4E-A6A7-D2AB55159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FAE079D-23CF-2543-B543-90A5EB0D2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90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2400">
          <p15:clr>
            <a:srgbClr val="FBAE40"/>
          </p15:clr>
        </p15:guide>
        <p15:guide id="8" orient="horz" pos="37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37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89509"/>
            <a:ext cx="10287000" cy="1331865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 </a:t>
            </a:r>
            <a:br>
              <a:rPr lang="en-US"/>
            </a:br>
            <a:r>
              <a:rPr lang="en-US"/>
              <a:t>that runs to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50741"/>
            <a:ext cx="10287000" cy="3892859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AAAF-3BA6-4445-BF32-091644479611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0AA5F87C-9826-7441-9CF2-6F364BF7D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78EF36-A6E8-DB4E-8C3A-B3624ECE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35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  <p15:guide id="8" orient="horz" pos="37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4800219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664346"/>
            <a:ext cx="4800224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/>
        </p:nvCxnSpPr>
        <p:spPr>
          <a:xfrm>
            <a:off x="6096000" y="1686758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99253-B000-1442-A7D2-EB536C15CBCB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8" name="Picture 17" descr="The University of Iowa">
            <a:extLst>
              <a:ext uri="{FF2B5EF4-FFF2-40B4-BE49-F238E27FC236}">
                <a16:creationId xmlns:a16="http://schemas.microsoft.com/office/drawing/2014/main" id="{A96F9427-B9C2-6F44-ADD6-28635EDF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5D918E3-A228-4F47-B892-288E22CD6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6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697">
          <p15:clr>
            <a:srgbClr val="FBAE40"/>
          </p15:clr>
        </p15:guide>
        <p15:guide id="7" orient="horz" pos="24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1686756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2674396"/>
            <a:ext cx="2973372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168675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2674396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4143A-0CC6-6041-BD38-4C994DA8E0B2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3" name="Picture 22" descr="The University of Iowa">
            <a:extLst>
              <a:ext uri="{FF2B5EF4-FFF2-40B4-BE49-F238E27FC236}">
                <a16:creationId xmlns:a16="http://schemas.microsoft.com/office/drawing/2014/main" id="{529638AC-0ED3-DE46-BC83-28B1D845E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42FB62D-41EB-7A41-B0D2-60C8BB6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09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/>
        </p:nvCxnSpPr>
        <p:spPr>
          <a:xfrm>
            <a:off x="352425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37133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37134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06107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6108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/>
        </p:nvCxnSpPr>
        <p:spPr>
          <a:xfrm>
            <a:off x="86741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167670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2664346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F11BA-BD6E-E14D-A115-587308DBF4A7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178B6A3E-B578-0F40-9695-2E975D126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253C989-F49D-8D4D-BFD5-ECCB6E59B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4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183508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2" y="2850484"/>
            <a:ext cx="1835088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/>
        </p:nvCxnSpPr>
        <p:spPr>
          <a:xfrm>
            <a:off x="301186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CA73044-ABA5-4A68-81D4-75723F104CF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29003" y="1686758"/>
            <a:ext cx="162430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69FEDBA-37CD-4D7E-A729-6821E598E67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2900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/>
        </p:nvCxnSpPr>
        <p:spPr>
          <a:xfrm>
            <a:off x="5066192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96DFA0C-E450-4893-8C79-6243F56979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8122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9D9C274-DDDD-4725-8A7B-113147DD78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122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/>
        </p:nvCxnSpPr>
        <p:spPr>
          <a:xfrm>
            <a:off x="713190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93742B6-D009-4AB4-BBDC-24522E901BB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34904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0357619-5F6A-4C63-90C3-32B37CE73C9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34904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/>
        </p:nvCxnSpPr>
        <p:spPr>
          <a:xfrm>
            <a:off x="91841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5F8812-D495-478D-828C-D8CF0753EEB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401266" y="1686758"/>
            <a:ext cx="183508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8FA747-D085-4909-A6FE-575A5C65242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401267" y="2850484"/>
            <a:ext cx="183823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4AB6F8-D05F-8E40-A637-083D1274FB35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38" name="Picture 37" descr="The University of Iowa">
            <a:extLst>
              <a:ext uri="{FF2B5EF4-FFF2-40B4-BE49-F238E27FC236}">
                <a16:creationId xmlns:a16="http://schemas.microsoft.com/office/drawing/2014/main" id="{03F28A08-B979-7F4D-A857-AE155CAB0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48092FCE-E544-874D-A440-7B68904C3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53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83F529D-C880-45A0-81D8-FD2CC04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2" y="2120010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2" y="3291760"/>
            <a:ext cx="10288587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10288586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4" y="4753992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E76717-4761-EC4B-BDB1-C130638E59C3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40242CE7-09BD-8143-AE27-4BF193790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F415A2A-5C4A-BE45-8CAF-820EC97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62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A9A771B-4FFF-4EBF-A07A-0D6292AC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2" y="2120010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3" y="3291760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5" y="475399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23041F-D604-4688-B75A-90D37AFDDB0E}"/>
              </a:ext>
            </a:extLst>
          </p:cNvPr>
          <p:cNvCxnSpPr/>
          <p:nvPr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7B91F83-8428-4E5A-9C88-17829B687B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3696" y="168851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B1D581-6D4C-4716-AE96-DBB4F953B95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83697" y="212176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79BA4B0-A083-4A1F-9D3B-A041B59E7C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83698" y="3293514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FDD4A4D-E1FC-4E83-A8AA-A324B6B0E44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83699" y="3726766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8E7D5C-ACCB-47E6-A3F5-6F3F51A0F37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83700" y="4755746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9D9DC4-BB53-4441-9B74-84922B36994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83701" y="5188998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45D-2BF0-2740-9880-8D2B0EBB22B7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0BB6734F-670C-234F-9B83-4953BF83C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695749F-B8A1-694A-8E96-E3DE4B0E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97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1EE2C71-E6FD-4A5F-BC00-7290049C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2" y="2120010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/>
        </p:nvCxnSpPr>
        <p:spPr>
          <a:xfrm>
            <a:off x="949325" y="2760956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C9698A-599E-4227-BA19-18EFBBF3E0D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4094" y="2904080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B470A9-B821-4D01-8FB4-31DF303421A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4096" y="3337333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/>
        </p:nvCxnSpPr>
        <p:spPr>
          <a:xfrm>
            <a:off x="950912" y="3792244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507C81-6817-4069-BC84-0CE4705AE16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54098" y="3970621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103820-8C7A-497C-BCBA-2CFEB4549C8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54100" y="4403874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CE437-6AD8-4170-8DC8-66894266CE06}"/>
              </a:ext>
            </a:extLst>
          </p:cNvPr>
          <p:cNvCxnSpPr/>
          <p:nvPr/>
        </p:nvCxnSpPr>
        <p:spPr>
          <a:xfrm>
            <a:off x="952506" y="488567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C02F409-DCF5-4241-BB5E-6E37CC8D351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4096" y="5089029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C426E8-7005-475F-BC32-B5F0BA7A8A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4098" y="5522281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22804C-AFDD-4E8C-BFDC-31326A2127FA}"/>
              </a:ext>
            </a:extLst>
          </p:cNvPr>
          <p:cNvCxnSpPr/>
          <p:nvPr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342B0E-1F8B-4D4C-ABA7-E43BC2B3F4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67495" y="1688232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CF3285B-83DB-4917-9F24-EC0C964DE40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67497" y="2121484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8D8B1-0044-4EC5-B4CD-DB1095F378A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69089" y="2905554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6100E2-DAE8-4111-AF37-8909AA389FC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69091" y="3338807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0B1E9EC-56B4-4514-B189-24BD47F549F3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69093" y="3972095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685484E-408B-4771-9259-BAAC2A6E60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469095" y="4405348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E05AF1-1486-45F2-B87D-2AE555B8D1C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69091" y="5090503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2C4B0E5-3C7E-4BC2-AA92-4156C26C91F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69093" y="5523755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row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80C56-313A-5C4D-A02B-5C10621A5061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58CA1799-4AEA-D247-8458-F8440E403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FFD2AE71-6126-9A49-BF5D-60267741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28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947D672-DDE7-4F36-B79C-4245C5D1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238480"/>
            <a:ext cx="4800219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B9F7B-CC85-4936-BE2A-DF6B8BF46018}"/>
              </a:ext>
            </a:extLst>
          </p:cNvPr>
          <p:cNvCxnSpPr/>
          <p:nvPr/>
        </p:nvCxnSpPr>
        <p:spPr>
          <a:xfrm>
            <a:off x="949325" y="3790765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FA8ABE-0B6C-4930-94A9-A2BB4166E51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8052" y="4209907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E91DB8-4856-4AED-8362-60627F681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58053" y="4761629"/>
            <a:ext cx="4800219" cy="11819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/>
        </p:nvCxnSpPr>
        <p:spPr>
          <a:xfrm>
            <a:off x="6096000" y="1679384"/>
            <a:ext cx="0" cy="42727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228428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6BD4A33-C7CC-4380-A2BB-ECC6C2FB722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39276" y="4199855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D0BB64-6643-42CE-AFE7-372305F2123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39277" y="4751577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D606F0-071A-A842-B316-9BEBD143AC36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8" name="Picture 27" descr="The University of Iowa">
            <a:extLst>
              <a:ext uri="{FF2B5EF4-FFF2-40B4-BE49-F238E27FC236}">
                <a16:creationId xmlns:a16="http://schemas.microsoft.com/office/drawing/2014/main" id="{9AAD4B2F-0082-B749-BE09-2EC20A6C4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D920E71-4E45-E74F-B01A-DC16C3B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2400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Stat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9080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52" name="Picture Placeholder 50">
            <a:extLst>
              <a:ext uri="{FF2B5EF4-FFF2-40B4-BE49-F238E27FC236}">
                <a16:creationId xmlns:a16="http://schemas.microsoft.com/office/drawing/2014/main" id="{8D984633-F962-1848-A009-619CB82116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DE3AB4-3020-8D45-86B7-592F12CB716B}"/>
              </a:ext>
            </a:extLst>
          </p:cNvPr>
          <p:cNvCxnSpPr>
            <a:cxnSpLocks/>
          </p:cNvCxnSpPr>
          <p:nvPr/>
        </p:nvCxnSpPr>
        <p:spPr>
          <a:xfrm>
            <a:off x="896513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4E94AD-16D9-BE4C-8C57-CFA6654E1B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9080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4293C0-60B2-3341-9C38-86DF7ACA51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2471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5" name="Picture Placeholder 50">
            <a:extLst>
              <a:ext uri="{FF2B5EF4-FFF2-40B4-BE49-F238E27FC236}">
                <a16:creationId xmlns:a16="http://schemas.microsoft.com/office/drawing/2014/main" id="{3ED87A8B-0573-474F-94C0-2F7E344853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80564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99B91B-7CDD-284B-99CF-8408146B2C0D}"/>
              </a:ext>
            </a:extLst>
          </p:cNvPr>
          <p:cNvCxnSpPr>
            <a:cxnSpLocks/>
          </p:cNvCxnSpPr>
          <p:nvPr/>
        </p:nvCxnSpPr>
        <p:spPr>
          <a:xfrm>
            <a:off x="4539904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B67D17-F456-FC43-9C41-9344D6EEB0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582471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F6E28A-AB38-A64F-9481-C9F0437BFEA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5863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9" name="Picture Placeholder 50">
            <a:extLst>
              <a:ext uri="{FF2B5EF4-FFF2-40B4-BE49-F238E27FC236}">
                <a16:creationId xmlns:a16="http://schemas.microsoft.com/office/drawing/2014/main" id="{106DB928-4AE1-4E4B-9A4C-6062FC247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23956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7D2B0-E449-FD45-9789-FC204088E97C}"/>
              </a:ext>
            </a:extLst>
          </p:cNvPr>
          <p:cNvCxnSpPr>
            <a:cxnSpLocks/>
          </p:cNvCxnSpPr>
          <p:nvPr/>
        </p:nvCxnSpPr>
        <p:spPr>
          <a:xfrm>
            <a:off x="8183296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6FE37F4-1DCF-2D40-845F-6C10AC016C2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5863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7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2738-1D29-40DE-AACF-F60CD708E892}"/>
              </a:ext>
            </a:extLst>
          </p:cNvPr>
          <p:cNvCxnSpPr/>
          <p:nvPr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1ADFA24-184F-46B9-B1D0-3FBB044F3673}"/>
              </a:ext>
            </a:extLst>
          </p:cNvPr>
          <p:cNvSpPr/>
          <p:nvPr/>
        </p:nvSpPr>
        <p:spPr>
          <a:xfrm>
            <a:off x="166474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306F30-B3C1-E74C-B18C-7075DB0761D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4078664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F9D861-0550-4AC8-BB96-094DAF60B7F4}"/>
              </a:ext>
            </a:extLst>
          </p:cNvPr>
          <p:cNvSpPr/>
          <p:nvPr/>
        </p:nvSpPr>
        <p:spPr>
          <a:xfrm>
            <a:off x="5231950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382C3D7-6E45-864C-A5B5-39762336A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4078664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01DA23-83F7-4662-BC02-2666717C53B4}"/>
              </a:ext>
            </a:extLst>
          </p:cNvPr>
          <p:cNvSpPr/>
          <p:nvPr/>
        </p:nvSpPr>
        <p:spPr>
          <a:xfrm>
            <a:off x="8775763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E1CEA20-24A4-8C45-B5A6-CE111F714F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4078663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2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B9DD2E6-4011-470E-85A1-9331B2E2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/>
        </p:nvSpPr>
        <p:spPr>
          <a:xfrm>
            <a:off x="1260812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1A4191-73C5-A24C-B85A-D6F8FC57252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40727" y="231168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2500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/>
        </p:nvSpPr>
        <p:spPr>
          <a:xfrm>
            <a:off x="3935830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7A0C8CB-AE00-AE4E-8B06-C3CDA2E8A6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1796" y="228086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7F2CE8-9E91-4C86-99AB-686A9C81041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627518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/>
        </p:nvSpPr>
        <p:spPr>
          <a:xfrm>
            <a:off x="651392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ED777B6-C788-B840-ACC3-FD8949E42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93844" y="2309972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C06D7C8-7D2D-4A80-B5B8-174F5056AA0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05617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/>
        </p:nvSpPr>
        <p:spPr>
          <a:xfrm>
            <a:off x="9188946" y="2045132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4C4E3A7-AB8A-6243-BBFD-8A433C7847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607" y="2311684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FC2F9F8-450A-4433-BAFC-DCD0001FAF1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880634" y="4073057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78BB7-B3A6-0D4A-A743-C8950F9817AE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6D319038-0896-5540-A405-0F93F52CC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5779A1-5C1A-D949-93A6-EFB401BFC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20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7E2EA4D-EFA8-4B7C-9585-ADB07DA2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/>
        </p:nvSpPr>
        <p:spPr>
          <a:xfrm>
            <a:off x="1175438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E2F4087-739F-1B43-B022-92BCEDD29A2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8972" y="2403497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5438" y="407866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/>
        </p:nvSpPr>
        <p:spPr>
          <a:xfrm>
            <a:off x="3222122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90A73C4-9F43-6142-BBC5-1C887BE310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2864" y="2384080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9DF875-9EAF-4928-8E91-6599CCEAADE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225991" y="4080927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/>
        </p:nvSpPr>
        <p:spPr>
          <a:xfrm>
            <a:off x="5305996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21B32AC-29FE-5347-BC89-E1D12CFE91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88241" y="2367425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AF8AD6-3AD0-422C-B775-D4163897266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285614" y="409557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/>
        </p:nvSpPr>
        <p:spPr>
          <a:xfrm>
            <a:off x="7346820" y="2120050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035F86CE-4040-2C49-984A-EDA41DCC41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83252" y="2382067"/>
            <a:ext cx="1121725" cy="108649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322EF39-6BE8-4D2B-B814-5743037B71F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25607" y="4098102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182B05-A7F1-450F-AE61-51425BEF3AA6}"/>
              </a:ext>
            </a:extLst>
          </p:cNvPr>
          <p:cNvSpPr/>
          <p:nvPr/>
        </p:nvSpPr>
        <p:spPr>
          <a:xfrm>
            <a:off x="9434872" y="2133924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B4205C-10C8-FE4A-8B1C-0B1A629E22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2000" y="2389427"/>
            <a:ext cx="1100333" cy="108649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D14923E-7CAE-49B7-9668-7B538ECFDC5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19080" y="4107460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item or step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66093-3200-6440-8AB2-9242D398F84E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D664CA64-A0A9-F34D-BDC5-9ABCDE7A5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B50283A-D398-E048-BDA3-92DD544A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C29AABA-668F-408C-81ED-9A30ED0A4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325" y="1684461"/>
            <a:ext cx="3170238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891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83805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C3EF38F-8A6A-4B49-A1A2-467E7797A5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02447" y="1677611"/>
            <a:ext cx="2987311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3537679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4372568"/>
            <a:ext cx="2973372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DDD8951C-5A36-4D07-AB7C-0F597B3D79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2642" y="1684461"/>
            <a:ext cx="3166858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3537679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4372568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DAB539-1500-4641-B587-77CADD883496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425DB221-2568-9A44-ABC3-1ED0E0B4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E30D721-4805-D344-A3E0-90A8F1D56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07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1D4365-BAA8-4F76-87AD-1A328301E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325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/>
        </p:nvCxnSpPr>
        <p:spPr>
          <a:xfrm>
            <a:off x="344118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B10E167-B94B-AD40-958C-D9E0F8F9DF4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93362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3DF098-BB37-5848-9388-750D29EFC65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630386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FE4DEF0-41BC-4548-B7BA-1E5B0231AFFD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630387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/>
        </p:nvCxnSpPr>
        <p:spPr>
          <a:xfrm>
            <a:off x="609574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864CDDAA-23B4-C842-845C-7640D95F2B6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37399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B8CCE3-3756-5947-84B2-DFCA00A013F6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42957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9C56F7D-4836-1E4F-BD4C-CB150E12E098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42958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/>
        </p:nvCxnSpPr>
        <p:spPr>
          <a:xfrm>
            <a:off x="87503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6A5C640-1D0E-4428-AC28-148AE98A7B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81435" y="1680693"/>
            <a:ext cx="2349365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354891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4362520"/>
            <a:ext cx="2358867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20753-9BFD-2840-9C93-FF72942ED6E3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32" name="Picture 31" descr="The University of Iowa">
            <a:extLst>
              <a:ext uri="{FF2B5EF4-FFF2-40B4-BE49-F238E27FC236}">
                <a16:creationId xmlns:a16="http://schemas.microsoft.com/office/drawing/2014/main" id="{710BB67D-293B-374F-89FC-5F2EBF9F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EE9B966-22C9-0D4A-8DF7-FFA7CF9C9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76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14F11A61-EE32-4596-8BBC-0626131F1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4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/>
        </p:nvCxnSpPr>
        <p:spPr>
          <a:xfrm>
            <a:off x="29247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10B80E7E-3ECA-A84C-BBC2-DF9FD6DED4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0534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AB9C78E2-4679-F844-BB37-D2E07B542CA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0534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F3EA205-7109-BC44-BA2C-7704780449E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0534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/>
        </p:nvCxnSpPr>
        <p:spPr>
          <a:xfrm>
            <a:off x="5036631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EF24A51-2D82-AA40-8405-8CFEC6F5C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870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D707E7-5635-444F-BB41-10E2268CC09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870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340EF3F-9B6C-B54B-94AD-7275543213B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51870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/>
        </p:nvCxnSpPr>
        <p:spPr>
          <a:xfrm>
            <a:off x="71484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4D703A3B-87F3-AE45-90D2-795F9DA885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66213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C95157B-C7FC-864F-A9C2-08E02E26EE0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266215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1E05108-E0DC-6947-A186-EA5436079AA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266216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/>
        </p:nvCxnSpPr>
        <p:spPr>
          <a:xfrm>
            <a:off x="92603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90B3032-DDF8-0446-8BB7-81565519E03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106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24287DA-FEAD-6E4A-83EC-B59516E2386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410701" y="3545060"/>
            <a:ext cx="1826629" cy="67511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header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FC143B3-231A-2B46-ABBF-7F6B6BBF459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94107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column 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E17D8-CAFF-0E47-97EF-4D4BC59FFC70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43" name="Picture 42" descr="The University of Iowa">
            <a:extLst>
              <a:ext uri="{FF2B5EF4-FFF2-40B4-BE49-F238E27FC236}">
                <a16:creationId xmlns:a16="http://schemas.microsoft.com/office/drawing/2014/main" id="{924E35CA-EA2E-084A-B4D2-736FEA8C0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752B61A-80FF-1049-8A33-5614EE9DC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8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0">
            <a:extLst>
              <a:ext uri="{FF2B5EF4-FFF2-40B4-BE49-F238E27FC236}">
                <a16:creationId xmlns:a16="http://schemas.microsoft.com/office/drawing/2014/main" id="{2BA8F287-92C7-4FFD-A7E9-45864F8E9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9325" y="498296"/>
            <a:ext cx="5260975" cy="89611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31F03A-71CF-475D-8A3C-99FC106D73E8}"/>
              </a:ext>
            </a:extLst>
          </p:cNvPr>
          <p:cNvCxnSpPr>
            <a:cxnSpLocks/>
          </p:cNvCxnSpPr>
          <p:nvPr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404DB8-B6AC-4389-8E6E-A115840D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5257801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1534" y="0"/>
            <a:ext cx="5029200" cy="638951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0F7CB-393D-BF45-B52D-542FDDEFCAFF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9CE5618D-3613-E04D-A815-ED9A2C5A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5C85E8-314E-3E45-BB26-1A95C60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43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  <p15:guide id="2" pos="3912">
          <p15:clr>
            <a:srgbClr val="FBAE40"/>
          </p15:clr>
        </p15:guide>
        <p15:guide id="3" pos="600">
          <p15:clr>
            <a:srgbClr val="FBAE40"/>
          </p15:clr>
        </p15:guide>
        <p15:guide id="4" orient="horz" pos="1056">
          <p15:clr>
            <a:srgbClr val="FBAE40"/>
          </p15:clr>
        </p15:guide>
        <p15:guide id="6" orient="horz" pos="697">
          <p15:clr>
            <a:srgbClr val="FBAE40"/>
          </p15:clr>
        </p15:guide>
        <p15:guide id="7" orient="horz" pos="24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365125"/>
            <a:ext cx="5254505" cy="133186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962386"/>
            <a:ext cx="5266450" cy="3981214"/>
          </a:xfrm>
        </p:spPr>
        <p:txBody>
          <a:bodyPr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chemeClr val="tx2"/>
              </a:buCl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59502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630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9502" y="3260862"/>
            <a:ext cx="5032499" cy="312864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 Click icon to add picture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4DFA0-3257-B044-87EF-16154359E2FC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9" name="Picture 18" descr="The University of Iowa">
            <a:extLst>
              <a:ext uri="{FF2B5EF4-FFF2-40B4-BE49-F238E27FC236}">
                <a16:creationId xmlns:a16="http://schemas.microsoft.com/office/drawing/2014/main" id="{87382191-DF4D-7341-915C-9C1044535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21405B1-B61E-0943-909C-EFA16B5E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13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  <p15:guide id="2" pos="3926">
          <p15:clr>
            <a:srgbClr val="FBAE40"/>
          </p15:clr>
        </p15:guide>
        <p15:guide id="3" pos="600">
          <p15:clr>
            <a:srgbClr val="FBAE40"/>
          </p15:clr>
        </p15:guide>
        <p15:guide id="4" orient="horz" pos="24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4273"/>
            <a:ext cx="10290175" cy="86908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949325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49325" y="1570038"/>
            <a:ext cx="10290175" cy="4114800"/>
          </a:xfrm>
        </p:spPr>
        <p:txBody>
          <a:bodyPr lIns="0" tIns="0" rIns="0" bIns="0"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6D074-0631-F846-A2A3-4A39FEAEFDD7}"/>
              </a:ext>
            </a:extLst>
          </p:cNvPr>
          <p:cNvSpPr/>
          <p:nvPr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F53BBB5F-6629-C742-91EE-40B5B8BC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AC09A7-82B4-6B47-A4FB-CA6800EA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44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8383" y="3029213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tx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62A30-5EEC-5549-B428-7E5B11A5D7A7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99B573-1E8F-3547-9D64-50A2EC630F1F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68F32139-4BAE-F54C-8358-EF5839C5813E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807D8-E6B4-C743-A4EC-22D5E047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85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-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47420D0-6FF1-9C4A-B953-EA4EEABBA3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5016" y="3029213"/>
            <a:ext cx="2693773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Contact Person Title </a:t>
            </a:r>
          </a:p>
          <a:p>
            <a:pPr lvl="0"/>
            <a:r>
              <a:rPr lang="en-US"/>
              <a:t>Contact Person Unit</a:t>
            </a:r>
          </a:p>
          <a:p>
            <a:pPr lvl="0"/>
            <a:endParaRPr lang="en-US"/>
          </a:p>
          <a:p>
            <a:pPr lvl="0"/>
            <a:r>
              <a:rPr lang="en-US"/>
              <a:t>Phone: </a:t>
            </a:r>
          </a:p>
          <a:p>
            <a:pPr lvl="0"/>
            <a:r>
              <a:rPr lang="en-US"/>
              <a:t>Fax: </a:t>
            </a:r>
          </a:p>
          <a:p>
            <a:pPr lvl="0"/>
            <a:r>
              <a:rPr lang="en-US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accent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/>
              <a:t>Insert Web Address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25728D-FF50-4FF2-AC2E-B13A3D44D5B9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A6E0DE-15E0-485B-8083-6D1BB965B9B6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EFEE4-DF1C-4FDF-ABC6-804BF8FA2941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The University of Iowa">
            <a:extLst>
              <a:ext uri="{FF2B5EF4-FFF2-40B4-BE49-F238E27FC236}">
                <a16:creationId xmlns:a16="http://schemas.microsoft.com/office/drawing/2014/main" id="{6179B039-C5FC-F04C-AB21-BEF980B0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0E4C36A-C453-EE4B-A1E5-D1232C36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1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OW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993FB4-4336-2048-A6A4-FA306EBBE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85842"/>
            <a:ext cx="10515600" cy="89611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 Header</a:t>
            </a:r>
          </a:p>
        </p:txBody>
      </p:sp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67584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63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OW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193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27CD-8CB1-20A8-5588-AAA5171C5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EB40C-B560-0D68-E63C-26080621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33C61-C70C-E473-9103-55818773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E05-4AA7-7F43-B512-76BF214D71A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96344-72EE-A503-1D95-53DED4D4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CD737-86A8-52A4-96B6-5D740A89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31F2-457F-A542-80CF-19F90950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34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f5docs.readthedocs.io/en/latest/index.html" TargetMode="Externa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E14D-2584-45A9-93E1-83F0A31A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706"/>
            <a:ext cx="10515600" cy="3123384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Roboto"/>
                <a:ea typeface="Roboto"/>
                <a:cs typeface="Arial"/>
              </a:rPr>
              <a:t>Calibration Steps for EF5 </a:t>
            </a:r>
            <a:endParaRPr lang="en-US" sz="6000" b="0" dirty="0">
              <a:latin typeface="Roboto"/>
              <a:ea typeface="Roboto"/>
            </a:endParaRPr>
          </a:p>
          <a:p>
            <a:pPr algn="ctr"/>
            <a:r>
              <a:rPr lang="en-US" sz="2400" b="0" dirty="0">
                <a:latin typeface="Roboto"/>
                <a:ea typeface="Roboto"/>
                <a:cs typeface="Arial"/>
              </a:rPr>
              <a:t>Ghana 1km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23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FE1B-D68D-FA48-211C-4781751D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7C75C-76AA-6F59-DCB9-57FEFFD758C4}"/>
              </a:ext>
            </a:extLst>
          </p:cNvPr>
          <p:cNvSpPr txBox="1"/>
          <p:nvPr/>
        </p:nvSpPr>
        <p:spPr>
          <a:xfrm>
            <a:off x="949325" y="498296"/>
            <a:ext cx="5260975" cy="896116"/>
          </a:xfrm>
          <a:prstGeom prst="rect">
            <a:avLst/>
          </a:prstGeom>
        </p:spPr>
        <p:txBody>
          <a:bodyPr vert="horz" lIns="0" tIns="0" rIns="0" bIns="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Gauge Selection (1531420)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7D9FCD-CBC1-D654-9E67-ADF34399A3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2499" y="1686757"/>
            <a:ext cx="5257801" cy="425684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</a:rPr>
              <a:t>Target Identification: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</a:rPr>
              <a:t> Select the specific gauge for model calibration.</a:t>
            </a:r>
          </a:p>
          <a:p>
            <a:pPr marL="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</a:rPr>
              <a:t>Selection Criteria: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</a:rPr>
              <a:t> Prioritize gauges with high-quality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</a:rPr>
              <a:t>observed data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</a:rPr>
              <a:t>, focusing on:</a:t>
            </a:r>
          </a:p>
          <a:p>
            <a:pPr marL="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</a:rPr>
              <a:t>Frequency: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</a:rPr>
              <a:t> High temporal resolution (e.g., daily or hourly records).</a:t>
            </a:r>
          </a:p>
          <a:p>
            <a:pPr marL="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</a:rPr>
              <a:t>Accuracy: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</a:rPr>
              <a:t> Verified, error-free historical datasets.</a:t>
            </a:r>
          </a:p>
          <a:p>
            <a:pPr marL="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 descr="A map of a large green and orange area&#10;&#10;Description automatically generated">
            <a:extLst>
              <a:ext uri="{FF2B5EF4-FFF2-40B4-BE49-F238E27FC236}">
                <a16:creationId xmlns:a16="http://schemas.microsoft.com/office/drawing/2014/main" id="{3B8CAA14-1712-F489-8662-4C116ECD27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" r="4545" b="2"/>
          <a:stretch>
            <a:fillRect/>
          </a:stretch>
        </p:blipFill>
        <p:spPr>
          <a:xfrm>
            <a:off x="7171534" y="35"/>
            <a:ext cx="5029200" cy="63894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689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8C8A-6074-DDD1-053C-D993E9E4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AFD04-FFF3-FAF8-7889-8DBF15E1212F}"/>
              </a:ext>
            </a:extLst>
          </p:cNvPr>
          <p:cNvSpPr txBox="1"/>
          <p:nvPr/>
        </p:nvSpPr>
        <p:spPr>
          <a:xfrm>
            <a:off x="949325" y="498296"/>
            <a:ext cx="8185531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Selecting calib</a:t>
            </a:r>
            <a:r>
              <a:rPr lang="en-US" sz="3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ration period</a:t>
            </a:r>
            <a:r>
              <a:rPr lang="en-US" sz="3400" b="1" kern="12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(1531420)</a:t>
            </a:r>
          </a:p>
        </p:txBody>
      </p:sp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DB610C35-9202-E85F-0DE5-CA841E511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534" y="2201489"/>
            <a:ext cx="5029200" cy="1986533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8DA6A8A-D037-ED91-54DD-DF4AE58E0A74}"/>
              </a:ext>
            </a:extLst>
          </p:cNvPr>
          <p:cNvSpPr/>
          <p:nvPr/>
        </p:nvSpPr>
        <p:spPr>
          <a:xfrm>
            <a:off x="11125200" y="2201489"/>
            <a:ext cx="990600" cy="208476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EDF876C5-CF78-6683-A19F-7001971D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69" y="1511342"/>
            <a:ext cx="6944565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Plotting Tool: </a:t>
            </a:r>
            <a:r>
              <a:rPr lang="en-US" altLang="en-US" sz="2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We use the </a:t>
            </a:r>
            <a:r>
              <a:rPr lang="en-US" altLang="en-US" sz="26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obsPlot.ipynb</a:t>
            </a:r>
            <a:r>
              <a:rPr lang="en-US" altLang="en-US" sz="2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Jupyter</a:t>
            </a:r>
            <a:r>
              <a:rPr lang="en-US" altLang="en-US" sz="2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notebook to generate the visual plot of the observed data.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b="1" dirty="0"/>
              <a:t>Period Selection:</a:t>
            </a:r>
            <a:r>
              <a:rPr lang="en-US" sz="2600" dirty="0"/>
              <a:t> Based on the generated plot, we identify and select the most appropriate period for calibration.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b="1" dirty="0"/>
              <a:t>Selected Window:</a:t>
            </a:r>
            <a:r>
              <a:rPr lang="en-US" sz="2800" dirty="0"/>
              <a:t> The </a:t>
            </a:r>
            <a:r>
              <a:rPr lang="en-US" sz="2800" b="1" dirty="0"/>
              <a:t>2004–2008</a:t>
            </a:r>
            <a:r>
              <a:rPr lang="en-US" sz="2800" dirty="0"/>
              <a:t> period was chosen due to its continuous data availability.</a:t>
            </a:r>
            <a:endParaRPr lang="en-US" sz="2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8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3B8-5450-9D86-920F-32B6235C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2D0904-1742-1C21-1D45-614B1A221DF9}"/>
              </a:ext>
            </a:extLst>
          </p:cNvPr>
          <p:cNvSpPr txBox="1"/>
          <p:nvPr/>
        </p:nvSpPr>
        <p:spPr>
          <a:xfrm>
            <a:off x="949325" y="498296"/>
            <a:ext cx="8185531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Preparing EF5 Control File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873DAC56-0874-281A-C133-281B0502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59" y="1312168"/>
            <a:ext cx="1188248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1" dirty="0"/>
              <a:t>Once the calibration period is selected, we configure the </a:t>
            </a:r>
            <a:r>
              <a:rPr lang="en-US" sz="2800" b="1" dirty="0">
                <a:highlight>
                  <a:srgbClr val="FFFF00"/>
                </a:highlight>
              </a:rPr>
              <a:t>Control File </a:t>
            </a:r>
            <a:r>
              <a:rPr lang="en-US" sz="2800" b="1" dirty="0"/>
              <a:t>. Key components include: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3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Gauge Block: </a:t>
            </a:r>
            <a:r>
              <a:rPr lang="en-US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Specifies the exact coordinates (Lat/Lon) for the station, make sure the </a:t>
            </a:r>
            <a:r>
              <a:rPr lang="en-US" altLang="en-US" sz="230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guage</a:t>
            </a:r>
            <a:r>
              <a:rPr lang="en-US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point is at a stream flow pixel.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Target: [Gauge 1531420]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300" b="1" dirty="0"/>
              <a:t>Basin Block:</a:t>
            </a:r>
            <a:r>
              <a:rPr lang="en-US" sz="2300" dirty="0"/>
              <a:t> Links the specific gauge to the study area.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Definition: [Basin WestAfr]</a:t>
            </a:r>
            <a:endParaRPr lang="en-US" altLang="en-US" sz="23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300" b="1" dirty="0"/>
              <a:t>Parameter Calibration Blocks:</a:t>
            </a:r>
            <a:r>
              <a:rPr lang="en-US" sz="2300" dirty="0"/>
              <a:t> Define the search ranges for the DREAM algorithm.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en-US" sz="23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CREST Params: </a:t>
            </a:r>
            <a:r>
              <a:rPr lang="de-DE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[CrestCaliParams WestAfrCRESTCALI]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en-US" sz="23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KW (Kinematic Wave) Params: </a:t>
            </a:r>
            <a:r>
              <a:rPr lang="de-DE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[kwcaliparams WestAfrKWCALI]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300" b="1" dirty="0"/>
              <a:t>Task Block:</a:t>
            </a:r>
            <a:r>
              <a:rPr lang="en-US" sz="2300" dirty="0"/>
              <a:t> Finalizes the Task block by referring to correct CREST and KW parameters set, output folder and the duration of the calibration.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Example - </a:t>
            </a:r>
            <a:endParaRPr lang="de-DE" altLang="en-US" sz="230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8E96CC8-6A2B-35E2-03B9-8355AA08D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050226"/>
              </p:ext>
            </p:extLst>
          </p:nvPr>
        </p:nvGraphicFramePr>
        <p:xfrm>
          <a:off x="2416175" y="5680710"/>
          <a:ext cx="644526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666659" imgH="514350" progId="Package">
                  <p:embed/>
                </p:oleObj>
              </mc:Choice>
              <mc:Fallback>
                <p:oleObj name="Packager Shell Object" showAsIcon="1" r:id="rId2" imgW="66665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6175" y="5680710"/>
                        <a:ext cx="644526" cy="51435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550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B6C7-11BA-4347-3240-28592C71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451E3E-D3A5-B230-9CE2-AFA1B8DE0228}"/>
              </a:ext>
            </a:extLst>
          </p:cNvPr>
          <p:cNvSpPr txBox="1"/>
          <p:nvPr/>
        </p:nvSpPr>
        <p:spPr>
          <a:xfrm>
            <a:off x="949325" y="498296"/>
            <a:ext cx="8185531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Resources</a:t>
            </a:r>
            <a:r>
              <a:rPr lang="en-US" sz="3600" dirty="0"/>
              <a:t> &amp; </a:t>
            </a:r>
            <a:r>
              <a:rPr lang="en-US" sz="3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Documentation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04424591-C3C3-8689-32B9-DCC02287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59" y="1394412"/>
            <a:ext cx="1188248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a comprehensive guide on the models, parameters, and the framework used in this presentation, please visit: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Official Documentation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EF5 </a:t>
            </a:r>
            <a:r>
              <a:rPr lang="en-US" sz="2800" dirty="0" err="1">
                <a:hlinkClick r:id="rId2"/>
              </a:rPr>
              <a:t>ReadTheDocs</a:t>
            </a:r>
            <a:endParaRPr lang="en-US" sz="2800" dirty="0"/>
          </a:p>
          <a:p>
            <a:pPr lvl="1"/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All the materials used in these slides—including the </a:t>
            </a:r>
            <a:r>
              <a:rPr lang="en-US" sz="2800" b="1" dirty="0" err="1">
                <a:highlight>
                  <a:srgbClr val="FFFF00"/>
                </a:highlight>
              </a:rPr>
              <a:t>obsPlot.ipynb</a:t>
            </a:r>
            <a:r>
              <a:rPr lang="en-US" sz="2800" b="1" dirty="0">
                <a:highlight>
                  <a:srgbClr val="FFFF00"/>
                </a:highlight>
              </a:rPr>
              <a:t> </a:t>
            </a:r>
            <a:r>
              <a:rPr lang="en-US" sz="2800" b="1" dirty="0"/>
              <a:t>notebook, </a:t>
            </a:r>
            <a:r>
              <a:rPr lang="en-US" sz="2800" b="1" dirty="0">
                <a:highlight>
                  <a:srgbClr val="FFFF00"/>
                </a:highlight>
              </a:rPr>
              <a:t>datasets</a:t>
            </a:r>
            <a:r>
              <a:rPr lang="en-US" sz="2800" b="1" dirty="0"/>
              <a:t>, and the </a:t>
            </a:r>
            <a:r>
              <a:rPr lang="en-US" sz="2800" b="1" dirty="0">
                <a:highlight>
                  <a:srgbClr val="FFFF00"/>
                </a:highlight>
              </a:rPr>
              <a:t>control file</a:t>
            </a:r>
            <a:r>
              <a:rPr lang="en-US" sz="2800" b="1" dirty="0"/>
              <a:t>—can be found in the project repository: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GitHub Repository: </a:t>
            </a:r>
            <a:r>
              <a:rPr lang="en-US" sz="2800" b="1" dirty="0"/>
              <a:t>[Insert your GitHub URL here]</a:t>
            </a:r>
          </a:p>
        </p:txBody>
      </p:sp>
    </p:spTree>
    <p:extLst>
      <p:ext uri="{BB962C8B-B14F-4D97-AF65-F5344CB8AC3E}">
        <p14:creationId xmlns:p14="http://schemas.microsoft.com/office/powerpoint/2010/main" val="829682771"/>
      </p:ext>
    </p:extLst>
  </p:cSld>
  <p:clrMapOvr>
    <a:masterClrMapping/>
  </p:clrMapOvr>
</p:sld>
</file>

<file path=ppt/theme/theme1.xml><?xml version="1.0" encoding="utf-8"?>
<a:theme xmlns:a="http://schemas.openxmlformats.org/drawingml/2006/main" name="IOWA-PPT-Template-Widescreen-2022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University of Iowa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3896</TotalTime>
  <Words>321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Roboto</vt:lpstr>
      <vt:lpstr>Roboto Black</vt:lpstr>
      <vt:lpstr>IOWA-PPT-Template-Widescreen-2022</vt:lpstr>
      <vt:lpstr>Package</vt:lpstr>
      <vt:lpstr>Calibration Steps for EF5  Ghana 1km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Mehta, Naman</dc:creator>
  <cp:lastModifiedBy>Mehta, Naman</cp:lastModifiedBy>
  <cp:revision>4</cp:revision>
  <dcterms:created xsi:type="dcterms:W3CDTF">2026-03-16T00:04:47Z</dcterms:created>
  <dcterms:modified xsi:type="dcterms:W3CDTF">2026-03-18T17:01:14Z</dcterms:modified>
</cp:coreProperties>
</file>